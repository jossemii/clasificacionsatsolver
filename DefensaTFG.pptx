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6858000" cy="9144000"/>
  <p:embeddedFontLst>
    <p:embeddedFont>
      <p:font typeface="Average"/>
      <p:regular r:id="rId32"/>
    </p:embeddedFont>
    <p:embeddedFont>
      <p:font typeface="Oswald"/>
      <p:regular r:id="rId33"/>
      <p:bold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Oswald-regular.fntdata"/><Relationship Id="rId10" Type="http://schemas.openxmlformats.org/officeDocument/2006/relationships/slide" Target="slides/slide5.xml"/><Relationship Id="rId32" Type="http://schemas.openxmlformats.org/officeDocument/2006/relationships/font" Target="fonts/Average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Oswald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ef0bd46baa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ef0bd46baa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ef0bd46baa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ef0bd46baa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ef0bd46baa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ef0bd46baa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ef0bd46baa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ef0bd46baa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ef0bd46baa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ef0bd46baa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ef0bd46baa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ef0bd46baa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ef0bd46baa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ef0bd46baa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ef0bd46baa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ef0bd46baa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ef0bd46baa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ef0bd46baa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ef0bd46baa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ef0bd46baa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ef0bd46baa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ef0bd46baa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ef0bd46baa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ef0bd46baa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ef0bd46baa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ef0bd46baa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ef0bd46baa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ef0bd46baa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ef0bd46baa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ef0bd46baa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ef0bd46baa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ef0bd46baa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ef0bd46baa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ef0bd46baa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ef0bd46baa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ef0bd46baa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ef0bd46baa_0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ef0bd46baa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ef0bd46baa_0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ef0bd46baa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ef0bd46baa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ef0bd46baa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ef0bd46baa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ef0bd46baa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ef0bd46baa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ef0bd46baa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ef0bd46baa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ef0bd46baa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ef0bd46baa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ef0bd46baa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SISTEMA DISTRIBUIDO PARA LA RESOLUCIÓN DE SAT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Motivación</a:t>
            </a:r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Existe gran variedad de formas de resolver un problema.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Escoger la mejor solución no es una tarea sencilla.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Normalmente no se puede llegar a concluir que una solución vence al resto sobre cualquier escenario.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Los sistemas distribuidos sin confianza ni supervisión suelen dar buenos resultados a la hora de escoger una solución eficiente.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Objetivos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Definir </a:t>
            </a:r>
            <a:r>
              <a:rPr lang="es"/>
              <a:t>cómo</a:t>
            </a:r>
            <a:r>
              <a:rPr lang="es"/>
              <a:t> especificar un servicio.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Implementación de un nodo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Implementación del servicio de clasificación y selección de SAT-solver.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Objetivos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Definir cómo especificar un servicio.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Cómo está construido.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Cómo comunicarse con él.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Objetivos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Implementación de un nodo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Generar especificaciones de servicios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Atender solicitudes de otros nodos y de las instancias que ejecuta.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Instanciar un servicio a partir de su especificación.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Detener la instancia de un servicio.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Conectarse a otros nodos de la red.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Decidir </a:t>
            </a:r>
            <a:r>
              <a:rPr lang="es"/>
              <a:t>dónde</a:t>
            </a:r>
            <a:r>
              <a:rPr lang="es"/>
              <a:t> ejecutar nuevas instancias.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Objetivos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Implementación del servicio de clasificación y selección de SAT-solver.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Recibir</a:t>
            </a:r>
            <a:r>
              <a:rPr lang="es"/>
              <a:t> especificaciones de SAT-solvers.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Analizar los SAT-solvers mediante simulación.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Resolver SAT usando el solver más conveniente.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Gestionar dependencias y balancear solicitudes.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Diseño del sistema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Un servicio es un contenedor de software que realiza una tarea </a:t>
            </a:r>
            <a:r>
              <a:rPr lang="es"/>
              <a:t>específica</a:t>
            </a:r>
            <a:r>
              <a:rPr lang="es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Un nodo es un computador que forma parte de la red.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Atiende solicitudes para instanciar servicios.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Un servicio puede solicitar instancias a su nodo.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Al instanciar un servicio, el nodo carga un archivo especificando su dirección y variables de entorno.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Especificación de un servicio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Binario protobuf.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Se puede identificar mediante funciones hash.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Container 	- 	cómo está construido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Arquitectura 	- 	sobre qué base se construye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Sistema de archivos 	- 	sistema de archivos que lo componen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Punto de entrada 		- 	donde iniciar su ejecución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Variables de entorno	- 	variables que permite configurar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Api 		- 	cómo usarlo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Métodos 	-	que hace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Slots		- 	cómo se comunica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Implementación de un nodo</a:t>
            </a:r>
            <a:endParaRPr/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Compilador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Obtiene un .json y un Dockerfile.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Construye un contenedor siguiendo el Dockerfile.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Genera la especificación de un servicio.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Implementación de un nodo</a:t>
            </a:r>
            <a:endParaRPr/>
          </a:p>
        </p:txBody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Servidor Grpc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Recibe la especificación de un servicio, lo instancia y devuelve su dirección y token.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Recibe un token y detiene el servicio y sus dependencias.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Implementación de un nodo</a:t>
            </a:r>
            <a:endParaRPr/>
          </a:p>
        </p:txBody>
      </p:sp>
      <p:sp>
        <p:nvSpPr>
          <p:cNvPr id="119" name="Google Shape;119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Registro de instancias.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Quien la solicitó.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Si es externa: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Donde se ejecuta.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Su token.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Si es interna: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su dirección ip.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el identificador del contenedor.</a:t>
            </a:r>
            <a:endParaRPr/>
          </a:p>
        </p:txBody>
      </p:sp>
      <p:pic>
        <p:nvPicPr>
          <p:cNvPr id="120" name="Google Shape;12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8125" y="1797238"/>
            <a:ext cx="3613626" cy="212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Implementación de un nodo</a:t>
            </a:r>
            <a:endParaRPr/>
          </a:p>
        </p:txBody>
      </p:sp>
      <p:sp>
        <p:nvSpPr>
          <p:cNvPr id="126" name="Google Shape;12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Balanceo de instancias.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Selecciona el nodo de menor coste.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Coste de ejecución.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Número de contenedores </a:t>
            </a:r>
            <a:r>
              <a:rPr lang="es"/>
              <a:t>ejecutándose</a:t>
            </a:r>
            <a:r>
              <a:rPr lang="es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Si posee el contenedor del servicio o no.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Implementación de un nodo</a:t>
            </a:r>
            <a:endParaRPr/>
          </a:p>
        </p:txBody>
      </p:sp>
      <p:sp>
        <p:nvSpPr>
          <p:cNvPr id="132" name="Google Shape;132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Servidor Grpc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Proporcionar el coste de ejecución de un servicio.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Proporcionar la especificación de un servicio.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Proporcionar el contenedor de un servicio.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‘Saludar’ a un nodo.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Implementación de servicios</a:t>
            </a:r>
            <a:endParaRPr/>
          </a:p>
        </p:txBody>
      </p:sp>
      <p:sp>
        <p:nvSpPr>
          <p:cNvPr id="138" name="Google Shape;138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servicio principal se ocupa de: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Recibir especificaciones de SAT-solvers.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Analizar los SAT-solvers mediante entradas generadas aleatoriamente.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Realiza la regresión lineal de los datos recogidos.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Seleccionar el SAT-solver con mejor rendimiento para una entrada concreta.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Escalar y balancear solicitudes para resolver SAT.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Implementación de servicios</a:t>
            </a:r>
            <a:endParaRPr/>
          </a:p>
        </p:txBody>
      </p:sp>
      <p:sp>
        <p:nvSpPr>
          <p:cNvPr id="144" name="Google Shape;144;p27"/>
          <p:cNvSpPr txBox="1"/>
          <p:nvPr>
            <p:ph idx="1" type="body"/>
          </p:nvPr>
        </p:nvSpPr>
        <p:spPr>
          <a:xfrm>
            <a:off x="311700" y="11256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servicio principal se compone de: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Servidor Grpc.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Interfaz de regresión.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Sistema de entrenamiento.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Sistema de inferencia.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Administrador de SAT-solvers.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Además de dos dependencias para: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Realizar regresión lineal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Generar CNF’s aleatorios.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Implementación de servicios</a:t>
            </a:r>
            <a:endParaRPr/>
          </a:p>
        </p:txBody>
      </p:sp>
      <p:sp>
        <p:nvSpPr>
          <p:cNvPr id="150" name="Google Shape;150;p28"/>
          <p:cNvSpPr txBox="1"/>
          <p:nvPr>
            <p:ph idx="1" type="body"/>
          </p:nvPr>
        </p:nvSpPr>
        <p:spPr>
          <a:xfrm>
            <a:off x="311700" y="11256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servicio principal se compone de: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Servidor Grpc.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Interfaz de regresión.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Sistema de entrenamiento.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Administrador de SAT-solvers.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Sistema de inferencia.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Además de dos dependencias para: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Realizar regresión lineal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Generar CNF’s aleatorios.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Implementación de servicios</a:t>
            </a:r>
            <a:endParaRPr/>
          </a:p>
        </p:txBody>
      </p:sp>
      <p:sp>
        <p:nvSpPr>
          <p:cNvPr id="156" name="Google Shape;156;p29"/>
          <p:cNvSpPr txBox="1"/>
          <p:nvPr>
            <p:ph idx="1" type="body"/>
          </p:nvPr>
        </p:nvSpPr>
        <p:spPr>
          <a:xfrm>
            <a:off x="311700" y="11256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Servidor Grpc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Iniciar entrenamiento.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Detener entrenamiento.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Obtener modelo de regresión lineal.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Cargar SAT-solver.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Resolver SAT.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Obtener set de datos.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Añadir set de datos.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Realizar streaming de logs.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Implementación de servicios</a:t>
            </a:r>
            <a:endParaRPr/>
          </a:p>
        </p:txBody>
      </p:sp>
      <p:sp>
        <p:nvSpPr>
          <p:cNvPr id="162" name="Google Shape;162;p30"/>
          <p:cNvSpPr txBox="1"/>
          <p:nvPr>
            <p:ph idx="1" type="body"/>
          </p:nvPr>
        </p:nvSpPr>
        <p:spPr>
          <a:xfrm>
            <a:off x="311700" y="11256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Interfaz de regresión.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Patrón Singleton.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Mantiene la instancia del servicio de regresión.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Almacena set de datos principal.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Almacena modelo de regresión (es una lista de un modelo por cada SAT-solver).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Ejecuta regresión del set de datos cada cierto tiempo.</a:t>
            </a:r>
            <a:endParaRPr/>
          </a:p>
        </p:txBody>
      </p:sp>
      <p:pic>
        <p:nvPicPr>
          <p:cNvPr id="163" name="Google Shape;16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6100" y="2870950"/>
            <a:ext cx="6532201" cy="211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Implementación de servicios</a:t>
            </a:r>
            <a:endParaRPr/>
          </a:p>
        </p:txBody>
      </p:sp>
      <p:sp>
        <p:nvSpPr>
          <p:cNvPr id="169" name="Google Shape;169;p31"/>
          <p:cNvSpPr txBox="1"/>
          <p:nvPr>
            <p:ph idx="1" type="body"/>
          </p:nvPr>
        </p:nvSpPr>
        <p:spPr>
          <a:xfrm>
            <a:off x="311700" y="11256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Sistema de entrenamiento.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Patrón Singleton.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Gestiona instancia de generación de CNF’s aleatorios.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Da uso del administrador de SAT-solvers y de la interfaz de regresión.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Itera el entrenamiento.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Cada cierto número de iteraciones añade el set de datos.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En caso de dar interpretación comprueba y puntua.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En caso de dar </a:t>
            </a:r>
            <a:r>
              <a:rPr lang="es"/>
              <a:t>insatisfacibilidad</a:t>
            </a:r>
            <a:r>
              <a:rPr lang="es"/>
              <a:t> almacena.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En caso de tardar demasiado puntua en negativo.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Detiene el entrenamiento al finalizar la iteración.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Implementación de servicios</a:t>
            </a:r>
            <a:endParaRPr/>
          </a:p>
        </p:txBody>
      </p:sp>
      <p:sp>
        <p:nvSpPr>
          <p:cNvPr id="175" name="Google Shape;175;p32"/>
          <p:cNvSpPr txBox="1"/>
          <p:nvPr>
            <p:ph idx="1" type="body"/>
          </p:nvPr>
        </p:nvSpPr>
        <p:spPr>
          <a:xfrm>
            <a:off x="311700" y="11256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Administrador de SAT-solvers.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Patrón Singleton.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Contiene un registro de los SAT-solvers añadidos.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Gestiona, mantiene y escala las instancias de los SAT-solvers.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Balancea las solicitudes hacia un SAT-solver.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Proporciona una interfaz para resolver SAT con un solver concreto.</a:t>
            </a:r>
            <a:endParaRPr/>
          </a:p>
        </p:txBody>
      </p:sp>
      <p:pic>
        <p:nvPicPr>
          <p:cNvPr id="176" name="Google Shape;176;p32"/>
          <p:cNvPicPr preferRelativeResize="0"/>
          <p:nvPr/>
        </p:nvPicPr>
        <p:blipFill rotWithShape="1">
          <a:blip r:embed="rId3">
            <a:alphaModFix/>
          </a:blip>
          <a:srcRect b="26288" l="0" r="0" t="19271"/>
          <a:stretch/>
        </p:blipFill>
        <p:spPr>
          <a:xfrm>
            <a:off x="2229275" y="3079375"/>
            <a:ext cx="4685450" cy="1913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Implementación de servicios</a:t>
            </a:r>
            <a:endParaRPr/>
          </a:p>
        </p:txBody>
      </p:sp>
      <p:sp>
        <p:nvSpPr>
          <p:cNvPr id="182" name="Google Shape;182;p33"/>
          <p:cNvSpPr txBox="1"/>
          <p:nvPr>
            <p:ph idx="1" type="body"/>
          </p:nvPr>
        </p:nvSpPr>
        <p:spPr>
          <a:xfrm>
            <a:off x="311700" y="11256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Sistema de inferencia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Obtiene un CNF y un modelo de regresión lineal.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Realiza inferencia sobre el modelo a partir de los atributos del CNF.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Obtiene el SAT-solver que se estima que tiene mejor rendimiento.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Implementación de servicios</a:t>
            </a:r>
            <a:endParaRPr/>
          </a:p>
        </p:txBody>
      </p:sp>
      <p:pic>
        <p:nvPicPr>
          <p:cNvPr id="188" name="Google Shape;18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1025" y="1017725"/>
            <a:ext cx="7641950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Implementación de servicios</a:t>
            </a:r>
            <a:endParaRPr/>
          </a:p>
        </p:txBody>
      </p:sp>
      <p:sp>
        <p:nvSpPr>
          <p:cNvPr id="194" name="Google Shape;194;p35"/>
          <p:cNvSpPr txBox="1"/>
          <p:nvPr>
            <p:ph idx="1" type="body"/>
          </p:nvPr>
        </p:nvSpPr>
        <p:spPr>
          <a:xfrm>
            <a:off x="311700" y="1153825"/>
            <a:ext cx="4218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Dependencia de regresión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Recibe un set de datos.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Realiza regresión de los datos de cada SAT-solver con varios grados.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Se toma el modelo de ese SAT-solver que mejor ajuste tenga.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Retorna el modelo de esos datos.</a:t>
            </a:r>
            <a:endParaRPr/>
          </a:p>
        </p:txBody>
      </p:sp>
      <p:pic>
        <p:nvPicPr>
          <p:cNvPr id="195" name="Google Shape;19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9150" y="1430400"/>
            <a:ext cx="3243851" cy="3175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Resultados</a:t>
            </a:r>
            <a:endParaRPr/>
          </a:p>
        </p:txBody>
      </p:sp>
      <p:sp>
        <p:nvSpPr>
          <p:cNvPr id="201" name="Google Shape;201;p36"/>
          <p:cNvSpPr txBox="1"/>
          <p:nvPr>
            <p:ph idx="1" type="body"/>
          </p:nvPr>
        </p:nvSpPr>
        <p:spPr>
          <a:xfrm>
            <a:off x="311700" y="1152475"/>
            <a:ext cx="8520600" cy="38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Se ha conseguido diseñar un sistema distribuido que abstrae la lógica del nodo de la lógica del servicio.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 partir de un SAT-solver plenamente funcional se han implementado dos: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Uno no funciona con una baja proporción de </a:t>
            </a:r>
            <a:r>
              <a:rPr lang="es"/>
              <a:t>cláusulas</a:t>
            </a:r>
            <a:r>
              <a:rPr lang="es"/>
              <a:t> y literales.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El otro no funciona con una alta proporción de cláusulas y literales.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En un entorno con dos nodos: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Se entrena un modelo con ambos SAT-solvers.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Se generan CNF’s y se mandan resolver al clasificador y al SAT-solver original.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Se comprueba la validez de las interpretaciones.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De esta forma se observa: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Que la clasificación y selección es correcta.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La diferencia de tiempos de respuesta es similar.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Las implementaciones del nodo y servicios funcionan correctamente.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Una prueba más compleja sería probar SAT-solvers similares y compararlos con una selección aleatoria de los mismos durante un tiempo prolongado.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Conclusiones</a:t>
            </a:r>
            <a:endParaRPr/>
          </a:p>
        </p:txBody>
      </p:sp>
      <p:sp>
        <p:nvSpPr>
          <p:cNvPr id="207" name="Google Shape;207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El proceso de selección de un solver no ha supuesto una desventaja contra el uso de un SAT-solver de manera directa.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Ante SAT-solvers más potentes podría no ser rentable el tiempo de seleccionarlos.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El potencial de clasificar y seleccionar formas de resolver un problema de manera autónoma tiene más que ver con la capacidad de no requerir de un análisis o decisión manual ante una nueva propuesta para resolverlo.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Conseguir que los agentes del sistema actúen sin confianza requeriría una mayor desarrollo en algunas partes de este.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Gracias por su atención.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